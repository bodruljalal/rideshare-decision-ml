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3" autoAdjust="0"/>
    <p:restoredTop sz="94610"/>
  </p:normalViewPr>
  <p:slideViewPr>
    <p:cSldViewPr snapToGrid="0" snapToObjects="1">
      <p:cViewPr>
        <p:scale>
          <a:sx n="119" d="100"/>
          <a:sy n="119" d="100"/>
        </p:scale>
        <p:origin x="10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7978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Driver Earnings Navigator is my capstone app for helping NYC Uber drivers decide where to wait next. It is not claiming to guarantee individual driver pay; it estimates historical market earning exposure and ranks relocation zones.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app targets the moment after a ride ends or during a slow period. The driver wants to know whether staying put or moving to another nearby zone has stronger historical earning exposure after travel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why the user experience favors fast recommendations, short explanations, and map context instead of raw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screenshot to show the app is implemented, not only conceptual. Emphasize that the app exposes model output in a driver-friendly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addresses the corrected example: for Howard Beach, East New York is the top recommendation, South Ozone Park is second, and Howard Beach itself is the stay-put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time on the reason for each layer. React gives the interactive interface; FastAPI exposes clean ML endpoints; the recommendation service encapsulates ranking logic; LightGBM is serialized as an artifact and can be versioned.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difference between raw data and serving data. The model should not compute all historical averages on each API call; it should load precomputed artifacts or query aggregate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useful for explaining why regression trees are compatible with continuous output. A classification tree stores class probabilities in the leaves. A regression tree stores averages or fitted numeric values. Gradient boosting adds many small numeric corrections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explains the training signal. The exact LightGBM regression objective uses a squared-error style loss by default. Since relocation scores are continuous, the model learns to minimize numeric error while the app later uses scores for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distinction: MAE/RMSE/R2 evaluate regression accuracy. NDCG evaluates whether the ranked list is good. Since the final product is a recommendation app, NDCG is arguably the most directly product-aligned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64637"/>
          </a:solidFill>
          <a:ln w="12700">
            <a:solidFill>
              <a:srgbClr val="0646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7160"/>
            <a:ext cx="12191695" cy="6720840"/>
          </a:xfrm>
          <a:prstGeom prst="rect">
            <a:avLst/>
          </a:prstGeom>
          <a:solidFill>
            <a:srgbClr val="064637"/>
          </a:solidFill>
          <a:ln w="12700">
            <a:solidFill>
              <a:srgbClr val="0646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0" y="960120"/>
            <a:ext cx="507492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903720" y="555955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ECE2"/>
                </a:solidFill>
              </a:rPr>
              <a:t>Live app demo: planner + map + copilot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7772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DRIVER EARNINGS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02920" y="1207008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80C783"/>
                </a:solidFill>
              </a:rPr>
              <a:t>NAVIGATOR</a:t>
            </a:r>
            <a:endParaRPr lang="en-US" sz="3900" dirty="0"/>
          </a:p>
        </p:txBody>
      </p:sp>
      <p:sp>
        <p:nvSpPr>
          <p:cNvPr id="9" name="Text 6"/>
          <p:cNvSpPr/>
          <p:nvPr/>
        </p:nvSpPr>
        <p:spPr>
          <a:xfrm>
            <a:off x="530352" y="204825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Machine Learning Relocation Recommendations for NYC Uber Drivers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30352" y="27889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CECE2"/>
                </a:solidFill>
              </a:rPr>
              <a:t>A full-stack app that ranks nearby TLC zones using historical Uber trip patterns, estimated travel time, and adjusted earning exposure.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66928" y="4160520"/>
            <a:ext cx="15087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8368" y="42793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64637"/>
                </a:solidFill>
              </a:rPr>
              <a:t>3.19M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58368" y="45902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36156"/>
                </a:solidFill>
              </a:rPr>
              <a:t>Training rows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240280" y="4160520"/>
            <a:ext cx="15087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331720" y="42793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64637"/>
                </a:solidFill>
              </a:rPr>
              <a:t>0.9749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2331720" y="45902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36156"/>
                </a:solidFill>
              </a:rPr>
              <a:t>Avg NDCG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913632" y="4160520"/>
            <a:ext cx="16916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005072" y="427939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64637"/>
                </a:solidFill>
              </a:rPr>
              <a:t>148.6 ms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4005072" y="45902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36156"/>
                </a:solidFill>
              </a:rPr>
              <a:t>API response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48640" y="61722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CE2"/>
                </a:solidFill>
              </a:rPr>
              <a:t>Capstone Presentation – Bodrul Jalal</a:t>
            </a:r>
            <a:endParaRPr lang="en-US" sz="1050" dirty="0"/>
          </a:p>
        </p:txBody>
      </p:sp>
      <p:pic>
        <p:nvPicPr>
          <p:cNvPr id="21" name="Picture 20" descr="8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669223"/>
            <a:ext cx="4617720" cy="28886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64637"/>
          </a:solidFill>
          <a:ln w="12700">
            <a:solidFill>
              <a:srgbClr val="0646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4637"/>
                </a:solidFill>
              </a:rPr>
              <a:t>PROBLEM AND SOLUTION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51D"/>
                </a:solidFill>
              </a:rPr>
              <a:t>The decision problem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9184" y="98755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36156"/>
                </a:solidFill>
              </a:rPr>
              <a:t>Drivers need fast, practical relocation guidance between trips.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383280" cy="4480560"/>
          </a:xfrm>
          <a:prstGeom prst="roundRect">
            <a:avLst>
              <a:gd name="adj" fmla="val 3243"/>
            </a:avLst>
          </a:prstGeom>
          <a:solidFill>
            <a:srgbClr val="FFFDF8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4E45"/>
                </a:solidFill>
              </a:rPr>
              <a:t>Problem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278892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51D"/>
                </a:solidFill>
              </a:rPr>
              <a:t>• Demand changes by zone, day, and hour.
• Moving zones costs time that could otherwise be spent waiting for requests.
• Newer drivers may not know TLC zone patterns.
• During slow periods, waiting in the wrong zone can waste a large part of a shift.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3383280" cy="4480560"/>
          </a:xfrm>
          <a:prstGeom prst="roundRect">
            <a:avLst>
              <a:gd name="adj" fmla="val 3243"/>
            </a:avLst>
          </a:prstGeom>
          <a:solidFill>
            <a:srgbClr val="F3FAF5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737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637"/>
                </a:solidFill>
              </a:rPr>
              <a:t>Solution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63440" y="2148840"/>
            <a:ext cx="278892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51D"/>
                </a:solidFill>
              </a:rPr>
              <a:t>• Rank nearby candidate zones instead of giving raw data.
• Account for travel time before recommending relocation.
• Explain the recommendation in plain language.
• Show current, recommended, and alternative zones on a map.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75320" y="1463040"/>
            <a:ext cx="3383280" cy="4480560"/>
          </a:xfrm>
          <a:prstGeom prst="roundRect">
            <a:avLst>
              <a:gd name="adj" fmla="val 3243"/>
            </a:avLst>
          </a:prstGeom>
          <a:solidFill>
            <a:srgbClr val="F6FBFE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49640" y="1737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9BC4"/>
                </a:solidFill>
              </a:rPr>
              <a:t>Research Question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549640" y="2148840"/>
            <a:ext cx="278892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51D"/>
                </a:solidFill>
              </a:rPr>
              <a:t>How can a machine-learning-powered web app help NYC Uber drivers reduce unproductive waiting time by recommending nearby NYC TLC zones using historical Uber trip patterns, estimated travel time, and adjusted earning exposure?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49640" y="47548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36156"/>
                </a:solidFill>
              </a:rPr>
              <a:t>Outcome: a ranked relocation recommendation, not a guaranteed personal earnings prediction.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86200" y="3703320"/>
            <a:ext cx="457200" cy="0"/>
          </a:xfrm>
          <a:prstGeom prst="line">
            <a:avLst/>
          </a:prstGeom>
          <a:noFill/>
          <a:ln w="21590">
            <a:solidFill>
              <a:srgbClr val="0646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0" y="3703320"/>
            <a:ext cx="457200" cy="0"/>
          </a:xfrm>
          <a:prstGeom prst="line">
            <a:avLst/>
          </a:prstGeom>
          <a:noFill/>
          <a:ln w="21590">
            <a:solidFill>
              <a:srgbClr val="0646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64637"/>
          </a:solidFill>
          <a:ln w="12700">
            <a:solidFill>
              <a:srgbClr val="0646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4637"/>
                </a:solidFill>
              </a:rPr>
              <a:t>USERS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51D"/>
                </a:solidFill>
              </a:rPr>
              <a:t>Who the app is built for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9184" y="98755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36156"/>
                </a:solidFill>
              </a:rPr>
              <a:t>Two driver personas shaped the interface and feature priorities.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4637"/>
                </a:solidFill>
              </a:rPr>
              <a:t>Full-time NYC driver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46634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51D"/>
                </a:solidFill>
              </a:rPr>
              <a:t>• Long shifts with changing demand patterns
• Needs quick decisions during slow periods
• Wants an explanation before spending time relocating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32588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29400" y="1600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9BC4"/>
                </a:solidFill>
              </a:rPr>
              <a:t>Part-time or newer driver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29400" y="2057400"/>
            <a:ext cx="46634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51D"/>
                </a:solidFill>
              </a:rPr>
              <a:t>• Less intuition about TLC taxi zones
• Needs map context and simple guidance
• Benefits from natural-language what-if scenarios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977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637"/>
                </a:solidFill>
              </a:rPr>
              <a:t>User journey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4526280"/>
            <a:ext cx="16916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4617720"/>
            <a:ext cx="1563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251D"/>
                </a:solidFill>
              </a:rPr>
              <a:t>Open app safely between rides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0" y="4937760"/>
            <a:ext cx="182880" cy="0"/>
          </a:xfrm>
          <a:prstGeom prst="line">
            <a:avLst/>
          </a:prstGeom>
          <a:noFill/>
          <a:ln w="21590">
            <a:solidFill>
              <a:srgbClr val="0646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14600" y="4526280"/>
            <a:ext cx="16916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78608" y="4617720"/>
            <a:ext cx="1563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251D"/>
                </a:solidFill>
              </a:rPr>
              <a:t>Select zone or use device location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06240" y="4937760"/>
            <a:ext cx="182880" cy="0"/>
          </a:xfrm>
          <a:prstGeom prst="line">
            <a:avLst/>
          </a:prstGeom>
          <a:noFill/>
          <a:ln w="21590">
            <a:solidFill>
              <a:srgbClr val="0646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34840" y="4526280"/>
            <a:ext cx="16916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98848" y="4617720"/>
            <a:ext cx="1563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251D"/>
                </a:solidFill>
              </a:rPr>
              <a:t>Optional day/hour scenario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4937760"/>
            <a:ext cx="182880" cy="0"/>
          </a:xfrm>
          <a:prstGeom prst="line">
            <a:avLst/>
          </a:prstGeom>
          <a:noFill/>
          <a:ln w="21590">
            <a:solidFill>
              <a:srgbClr val="0646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355080" y="4526280"/>
            <a:ext cx="1691640" cy="822960"/>
          </a:xfrm>
          <a:prstGeom prst="roundRect">
            <a:avLst>
              <a:gd name="adj" fmla="val 13333"/>
            </a:avLst>
          </a:prstGeom>
          <a:solidFill>
            <a:srgbClr val="DCECE2"/>
          </a:solidFill>
          <a:ln w="12700">
            <a:solidFill>
              <a:srgbClr val="0E8F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19088" y="4617720"/>
            <a:ext cx="1563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251D"/>
                </a:solidFill>
              </a:rPr>
              <a:t>Receive ranked recommendation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46720" y="4937760"/>
            <a:ext cx="182880" cy="0"/>
          </a:xfrm>
          <a:prstGeom prst="line">
            <a:avLst/>
          </a:prstGeom>
          <a:noFill/>
          <a:ln w="21590">
            <a:solidFill>
              <a:srgbClr val="0646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275320" y="4526280"/>
            <a:ext cx="16916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339328" y="4617720"/>
            <a:ext cx="1563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251D"/>
                </a:solidFill>
              </a:rPr>
              <a:t>Check map + explanation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966960" y="4937760"/>
            <a:ext cx="182880" cy="0"/>
          </a:xfrm>
          <a:prstGeom prst="line">
            <a:avLst/>
          </a:prstGeom>
          <a:noFill/>
          <a:ln w="21590">
            <a:solidFill>
              <a:srgbClr val="0646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195560" y="4526280"/>
            <a:ext cx="16916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259568" y="4617720"/>
            <a:ext cx="1563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251D"/>
                </a:solidFill>
              </a:rPr>
              <a:t>Decide to stay or relocate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64637"/>
          </a:solidFill>
          <a:ln w="12700">
            <a:solidFill>
              <a:srgbClr val="0646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4637"/>
                </a:solidFill>
              </a:rPr>
              <a:t>APP DEMO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51D"/>
                </a:solidFill>
              </a:rPr>
              <a:t>Application overview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9184" y="98755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36156"/>
                </a:solidFill>
              </a:rPr>
              <a:t>Planner, map, recommendation text, alternatives, and copilot are part of one decision-support workflow.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366760" y="1234440"/>
            <a:ext cx="3291840" cy="5074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41080" y="1508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637"/>
                </a:solidFill>
              </a:rPr>
              <a:t>Key capabilities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41080" y="1920240"/>
            <a:ext cx="265176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51D"/>
                </a:solidFill>
              </a:rPr>
              <a:t>• Current zone dropdown or device location
• Custom day/hour what-if scenarios
• Recommended zone with travel-time tradeoff
• Top alternatives for comparison
• Taxi-zone map highlights
• Chat/voice copilot explanations</a:t>
            </a:r>
            <a:endParaRPr lang="en-US" sz="1250" dirty="0"/>
          </a:p>
        </p:txBody>
      </p:sp>
      <p:pic>
        <p:nvPicPr>
          <p:cNvPr id="10" name="Picture 9" descr="8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98085"/>
            <a:ext cx="7589520" cy="47476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64637"/>
          </a:solidFill>
          <a:ln w="12700">
            <a:solidFill>
              <a:srgbClr val="0646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4637"/>
                </a:solidFill>
              </a:rPr>
              <a:t>APP DEMO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51D"/>
                </a:solidFill>
              </a:rPr>
              <a:t>Actual zone-map render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9184" y="98755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36156"/>
                </a:solidFill>
              </a:rPr>
              <a:t>The map gives spatial context for current, recommended, and alternative TLC taxi zones.</a:t>
            </a:r>
            <a:endParaRPr lang="en-US" sz="1150" dirty="0"/>
          </a:p>
        </p:txBody>
      </p:sp>
      <p:pic>
        <p:nvPicPr>
          <p:cNvPr id="6" name="Image 0" descr="/mnt/data/crop_zone_map_ac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05" y="1298448"/>
            <a:ext cx="4096589" cy="4983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72200" y="1234440"/>
            <a:ext cx="530352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92240" y="1554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637"/>
                </a:solidFill>
              </a:rPr>
              <a:t>Why the map matters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92240" y="1965960"/>
            <a:ext cx="452628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51D"/>
                </a:solidFill>
              </a:rPr>
              <a:t>• TLC zone names do not always tell drivers where the area is geographically.
• Color coding separates current zone, recommendation, and alternatives.
• Drivers can compare zones before spending time relocating.
• Future map improvements can add streets and landmarks.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92240" y="4617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637"/>
                </a:solidFill>
              </a:rPr>
              <a:t>Map legend behavior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537960" y="5010912"/>
            <a:ext cx="164592" cy="164592"/>
          </a:xfrm>
          <a:prstGeom prst="ellipse">
            <a:avLst/>
          </a:prstGeom>
          <a:solidFill>
            <a:srgbClr val="F4A082"/>
          </a:solidFill>
          <a:ln w="12700">
            <a:solidFill>
              <a:srgbClr val="F4A0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793992" y="49469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251D"/>
                </a:solidFill>
              </a:rPr>
              <a:t>Current zone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275320" y="5010912"/>
            <a:ext cx="164592" cy="164592"/>
          </a:xfrm>
          <a:prstGeom prst="ellipse">
            <a:avLst/>
          </a:prstGeom>
          <a:solidFill>
            <a:srgbClr val="0E8F60"/>
          </a:solidFill>
          <a:ln w="12700">
            <a:solidFill>
              <a:srgbClr val="0E8F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531352" y="494690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251D"/>
                </a:solidFill>
              </a:rPr>
              <a:t>Recommended zone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10012680" y="5010912"/>
            <a:ext cx="164592" cy="164592"/>
          </a:xfrm>
          <a:prstGeom prst="ellipse">
            <a:avLst/>
          </a:prstGeom>
          <a:solidFill>
            <a:srgbClr val="2F9BC4"/>
          </a:solidFill>
          <a:ln w="12700">
            <a:solidFill>
              <a:srgbClr val="2F9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241280" y="494690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51D"/>
                </a:solidFill>
              </a:rPr>
              <a:t>Top alternatives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64637"/>
          </a:solidFill>
          <a:ln w="12700">
            <a:solidFill>
              <a:srgbClr val="0646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4637"/>
                </a:solidFill>
              </a:rPr>
              <a:t>APP DEMO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51D"/>
                </a:solidFill>
              </a:rPr>
              <a:t>Howard Beach recommendation example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9184" y="98755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36156"/>
                </a:solidFill>
              </a:rPr>
              <a:t>This example ranks East New York first, then South Ozone Park, then staying in Howard Beach.</a:t>
            </a:r>
            <a:endParaRPr lang="en-US" sz="1150" dirty="0"/>
          </a:p>
        </p:txBody>
      </p:sp>
      <p:pic>
        <p:nvPicPr>
          <p:cNvPr id="6" name="Image 0" descr="/mnt/data/crop_howard_beach_recommen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8463"/>
            <a:ext cx="3794760" cy="4743450"/>
          </a:xfrm>
          <a:prstGeom prst="rect">
            <a:avLst/>
          </a:prstGeom>
        </p:spPr>
      </p:pic>
      <p:pic>
        <p:nvPicPr>
          <p:cNvPr id="7" name="Image 1" descr="/mnt/data/crop_top_alternatives_how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0769" y="1298448"/>
            <a:ext cx="1977142" cy="49834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001000" y="1325880"/>
            <a:ext cx="3520440" cy="49377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275320" y="1600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637"/>
                </a:solidFill>
              </a:rPr>
              <a:t>Ranking output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8275320" y="2057400"/>
            <a:ext cx="347472" cy="347472"/>
          </a:xfrm>
          <a:prstGeom prst="ellipse">
            <a:avLst/>
          </a:prstGeom>
          <a:solidFill>
            <a:srgbClr val="0E8F60"/>
          </a:solidFill>
          <a:ln w="12700">
            <a:solidFill>
              <a:srgbClr val="0E8F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8275320" y="213055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8732520" y="20482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51D"/>
                </a:solidFill>
              </a:rPr>
              <a:t>East New York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732520" y="23500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156"/>
                </a:solidFill>
              </a:rPr>
              <a:t>11.5 min  •  +$1055.16/hr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75320" y="2990088"/>
            <a:ext cx="347472" cy="347472"/>
          </a:xfrm>
          <a:prstGeom prst="ellipse">
            <a:avLst/>
          </a:prstGeom>
          <a:solidFill>
            <a:srgbClr val="2F9BC4"/>
          </a:solidFill>
          <a:ln w="12700">
            <a:solidFill>
              <a:srgbClr val="2F9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8275320" y="306324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732520" y="29809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51D"/>
                </a:solidFill>
              </a:rPr>
              <a:t>South Ozone Park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8732520" y="32826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156"/>
                </a:solidFill>
              </a:rPr>
              <a:t>12.8 min  •  +$488.00/hr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275320" y="3922776"/>
            <a:ext cx="347472" cy="347472"/>
          </a:xfrm>
          <a:prstGeom prst="ellipse">
            <a:avLst/>
          </a:prstGeom>
          <a:solidFill>
            <a:srgbClr val="2F9BC4"/>
          </a:solidFill>
          <a:ln w="12700">
            <a:solidFill>
              <a:srgbClr val="2F9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8275320" y="399592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8732520" y="3913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51D"/>
                </a:solidFill>
              </a:rPr>
              <a:t>Howard Beach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8732520" y="421538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36156"/>
                </a:solidFill>
              </a:rPr>
              <a:t>0.0 min  •  $0.00/hr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8275320" y="5166360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51D"/>
                </a:solidFill>
              </a:rPr>
              <a:t>The stay-put option is included so the model can recommend not relocating when moving is not worth it.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64637"/>
          </a:solidFill>
          <a:ln w="12700">
            <a:solidFill>
              <a:srgbClr val="0646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4637"/>
                </a:solidFill>
              </a:rPr>
              <a:t>COPILOT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51D"/>
                </a:solidFill>
              </a:rPr>
              <a:t>Voice/text copilot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9184" y="98755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36156"/>
                </a:solidFill>
              </a:rPr>
              <a:t>The copilot reduces reading load and supports natural-language what-if scenarios.</a:t>
            </a:r>
            <a:endParaRPr lang="en-US" sz="1150" dirty="0"/>
          </a:p>
        </p:txBody>
      </p:sp>
      <p:pic>
        <p:nvPicPr>
          <p:cNvPr id="6" name="Image 0" descr="/mnt/data/crop_copi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96683"/>
            <a:ext cx="6858000" cy="439615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18120" y="1325880"/>
            <a:ext cx="3611880" cy="489204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092440" y="16002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637"/>
                </a:solidFill>
              </a:rPr>
              <a:t>What it adds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92440" y="1965960"/>
            <a:ext cx="297180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51D"/>
                </a:solidFill>
              </a:rPr>
              <a:t>• Driver can ask “where should I relocate right now?”
• Supports what-if questions by zone, day, and time.
• Explains model recommendations in plain language.
• Works as a convenience layer over the recommendation service.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92440" y="48920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637"/>
                </a:solidFill>
              </a:rPr>
              <a:t>Design reason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92440" y="523036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51D"/>
                </a:solidFill>
              </a:rPr>
              <a:t>User feedback suggested that some drivers would rather ask questions naturally than read every field manually.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94D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2B22"/>
                </a:solidFill>
              </a:defRPr>
            </a:pPr>
            <a:r>
              <a:t>End-to-end website flow and model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932688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F5F5F"/>
                </a:solidFill>
              </a:defRPr>
            </a:pPr>
            <a:r>
              <a:t>Solid arrows = implemented app path. Dashed arrows = planned future data extensions.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34440"/>
            <a:ext cx="5440680" cy="196596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44168"/>
            <a:ext cx="5166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794D"/>
                </a:solidFill>
              </a:defRPr>
            </a:pPr>
            <a:r>
              <a:t>1. Offline data + model 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234440"/>
            <a:ext cx="5806440" cy="196596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0" y="1344168"/>
            <a:ext cx="5532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794D"/>
                </a:solidFill>
              </a:defRPr>
            </a:pPr>
            <a:r>
              <a:t>2. Live website recommendation path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429000"/>
            <a:ext cx="5577840" cy="224028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3538728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794D"/>
                </a:solidFill>
              </a:defRPr>
            </a:pPr>
            <a:r>
              <a:t>3. Future data extensions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429000"/>
            <a:ext cx="5623560" cy="224028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DE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3538728"/>
            <a:ext cx="5349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794D"/>
                </a:solidFill>
              </a:defRPr>
            </a:pPr>
            <a:r>
              <a:t>Why this structure?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828800"/>
            <a:ext cx="914400" cy="566928"/>
          </a:xfrm>
          <a:prstGeom prst="roundRect">
            <a:avLst/>
          </a:prstGeom>
          <a:solidFill>
            <a:srgbClr val="319DCA"/>
          </a:solidFill>
          <a:ln w="9525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92B22"/>
                </a:solidFill>
              </a:defRPr>
            </a:pPr>
            <a:r>
              <a:t>NYC TLC</a:t>
            </a:r>
            <a:br/>
            <a:r>
              <a:t>HVFHV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91640" y="1828800"/>
            <a:ext cx="914400" cy="566928"/>
          </a:xfrm>
          <a:prstGeom prst="roundRect">
            <a:avLst/>
          </a:prstGeom>
          <a:solidFill>
            <a:srgbClr val="E0EFE1"/>
          </a:solidFill>
          <a:ln w="9525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92B22"/>
                </a:solidFill>
              </a:defRPr>
            </a:pPr>
            <a:r>
              <a:t>Uber-only</a:t>
            </a:r>
            <a:br/>
            <a:r>
              <a:t>cleaning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8920" y="1828800"/>
            <a:ext cx="914400" cy="566928"/>
          </a:xfrm>
          <a:prstGeom prst="roundRect">
            <a:avLst/>
          </a:prstGeom>
          <a:solidFill>
            <a:srgbClr val="E0EFE1"/>
          </a:solidFill>
          <a:ln w="9525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92B22"/>
                </a:solidFill>
              </a:defRPr>
            </a:pPr>
            <a:r>
              <a:t>Zone/time</a:t>
            </a:r>
            <a:br/>
            <a:r>
              <a:t>features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86200" y="1828800"/>
            <a:ext cx="1051560" cy="566928"/>
          </a:xfrm>
          <a:prstGeom prst="roundRect">
            <a:avLst/>
          </a:prstGeom>
          <a:solidFill>
            <a:srgbClr val="E0EFE1"/>
          </a:solidFill>
          <a:ln w="9525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92B22"/>
                </a:solidFill>
              </a:defRPr>
            </a:pPr>
            <a:r>
              <a:t>Step 3</a:t>
            </a:r>
            <a:br/>
            <a:r>
              <a:t>training table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536192" y="2112264"/>
            <a:ext cx="128016" cy="0"/>
          </a:xfrm>
          <a:prstGeom prst="line">
            <a:avLst/>
          </a:prstGeom>
          <a:ln w="15875">
            <a:solidFill>
              <a:srgbClr val="1A5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633472" y="2112264"/>
            <a:ext cx="128016" cy="0"/>
          </a:xfrm>
          <a:prstGeom prst="line">
            <a:avLst/>
          </a:prstGeom>
          <a:ln w="15875">
            <a:solidFill>
              <a:srgbClr val="1A5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730752" y="2112264"/>
            <a:ext cx="128016" cy="0"/>
          </a:xfrm>
          <a:prstGeom prst="line">
            <a:avLst/>
          </a:prstGeom>
          <a:ln w="15875">
            <a:solidFill>
              <a:srgbClr val="1A5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874519" y="2560320"/>
            <a:ext cx="1143000" cy="502920"/>
          </a:xfrm>
          <a:prstGeom prst="roundRect">
            <a:avLst/>
          </a:prstGeom>
          <a:solidFill>
            <a:srgbClr val="00794D"/>
          </a:solidFill>
          <a:ln w="9525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LightGBM</a:t>
            </a:r>
            <a:br/>
            <a:r>
              <a:t>training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2560320"/>
            <a:ext cx="1417320" cy="502920"/>
          </a:xfrm>
          <a:prstGeom prst="roundRect">
            <a:avLst/>
          </a:prstGeom>
          <a:solidFill>
            <a:srgbClr val="00794D"/>
          </a:solidFill>
          <a:ln w="9525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Serialized model</a:t>
            </a:r>
            <a:br/>
            <a:r>
              <a:t>artifact (.pkl)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2487168" y="2395728"/>
            <a:ext cx="1901952" cy="164592"/>
          </a:xfrm>
          <a:prstGeom prst="line">
            <a:avLst/>
          </a:prstGeom>
          <a:ln w="15875">
            <a:solidFill>
              <a:srgbClr val="1A5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017520" y="2816352"/>
            <a:ext cx="411480" cy="0"/>
          </a:xfrm>
          <a:prstGeom prst="line">
            <a:avLst/>
          </a:prstGeom>
          <a:ln w="15875">
            <a:solidFill>
              <a:srgbClr val="1A5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09360" y="1874519"/>
            <a:ext cx="685800" cy="502920"/>
          </a:xfrm>
          <a:prstGeom prst="roundRect">
            <a:avLst/>
          </a:prstGeom>
          <a:solidFill>
            <a:srgbClr val="F59367"/>
          </a:solidFill>
          <a:ln w="9525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92B22"/>
                </a:solidFill>
              </a:defRPr>
            </a:pPr>
            <a:r>
              <a:t>Driver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23760" y="1828800"/>
            <a:ext cx="1005840" cy="594360"/>
          </a:xfrm>
          <a:prstGeom prst="roundRect">
            <a:avLst/>
          </a:prstGeom>
          <a:solidFill>
            <a:srgbClr val="E0EFE1"/>
          </a:solidFill>
          <a:ln w="9525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92B22"/>
                </a:solidFill>
              </a:defRPr>
            </a:pPr>
            <a:r>
              <a:t>React + Vite</a:t>
            </a:r>
            <a:br/>
            <a:r>
              <a:t>frontend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58200" y="1828800"/>
            <a:ext cx="914400" cy="594360"/>
          </a:xfrm>
          <a:prstGeom prst="roundRect">
            <a:avLst/>
          </a:prstGeom>
          <a:solidFill>
            <a:srgbClr val="E0EFE1"/>
          </a:solidFill>
          <a:ln w="9525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92B22"/>
                </a:solidFill>
              </a:defRPr>
            </a:pPr>
            <a:r>
              <a:t>FastAPI</a:t>
            </a:r>
            <a:br/>
            <a:r>
              <a:t>backend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46920" y="1828800"/>
            <a:ext cx="1143000" cy="594360"/>
          </a:xfrm>
          <a:prstGeom prst="roundRect">
            <a:avLst/>
          </a:prstGeom>
          <a:solidFill>
            <a:srgbClr val="E0EFE1"/>
          </a:solidFill>
          <a:ln w="9525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92B22"/>
                </a:solidFill>
              </a:defRPr>
            </a:pPr>
            <a:r>
              <a:t>Recommendation</a:t>
            </a:r>
            <a:br/>
            <a:r>
              <a:t>service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27080" y="1828800"/>
            <a:ext cx="685800" cy="594360"/>
          </a:xfrm>
          <a:prstGeom prst="roundRect">
            <a:avLst/>
          </a:prstGeom>
          <a:solidFill>
            <a:srgbClr val="319DCA"/>
          </a:solidFill>
          <a:ln w="9525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92B22"/>
                </a:solidFill>
              </a:defRPr>
            </a:pPr>
            <a:r>
              <a:t>Recommendation</a:t>
            </a:r>
            <a:br/>
            <a:r>
              <a:t>+ map output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22592" y="2121408"/>
            <a:ext cx="173736" cy="0"/>
          </a:xfrm>
          <a:prstGeom prst="line">
            <a:avLst/>
          </a:prstGeom>
          <a:ln w="15875">
            <a:solidFill>
              <a:srgbClr val="1A5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257031" y="2121408"/>
            <a:ext cx="173737" cy="0"/>
          </a:xfrm>
          <a:prstGeom prst="line">
            <a:avLst/>
          </a:prstGeom>
          <a:ln w="15875">
            <a:solidFill>
              <a:srgbClr val="1A5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400032" y="2121408"/>
            <a:ext cx="219456" cy="0"/>
          </a:xfrm>
          <a:prstGeom prst="line">
            <a:avLst/>
          </a:prstGeom>
          <a:ln w="15875">
            <a:solidFill>
              <a:srgbClr val="1A5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817352" y="2121408"/>
            <a:ext cx="82296" cy="0"/>
          </a:xfrm>
          <a:prstGeom prst="line">
            <a:avLst/>
          </a:prstGeom>
          <a:ln w="15875">
            <a:solidFill>
              <a:srgbClr val="1A5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235440" y="2697480"/>
            <a:ext cx="1143000" cy="411480"/>
          </a:xfrm>
          <a:prstGeom prst="roundRect">
            <a:avLst/>
          </a:prstGeom>
          <a:solidFill>
            <a:srgbClr val="00794D"/>
          </a:solidFill>
          <a:ln w="9525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Loaded model</a:t>
            </a:r>
            <a:br/>
            <a:r>
              <a:t>artifact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4160520" y="2898648"/>
            <a:ext cx="5641848" cy="164592"/>
          </a:xfrm>
          <a:prstGeom prst="line">
            <a:avLst/>
          </a:prstGeom>
          <a:ln w="15875">
            <a:solidFill>
              <a:srgbClr val="1A5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829800" y="2423160"/>
            <a:ext cx="274320" cy="274320"/>
          </a:xfrm>
          <a:prstGeom prst="line">
            <a:avLst/>
          </a:prstGeom>
          <a:ln w="15875">
            <a:solidFill>
              <a:srgbClr val="1A5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183879" y="2743200"/>
            <a:ext cx="1051560" cy="411480"/>
          </a:xfrm>
          <a:prstGeom prst="roundRect">
            <a:avLst/>
          </a:prstGeom>
          <a:solidFill>
            <a:srgbClr val="E8E4FF"/>
          </a:solidFill>
          <a:ln w="9525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92B22"/>
                </a:solidFill>
              </a:defRPr>
            </a:pPr>
            <a:r>
              <a:t>Gemini API</a:t>
            </a:r>
            <a:br/>
            <a:r>
              <a:t>chat + voice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8705088" y="2423160"/>
            <a:ext cx="210312" cy="320040"/>
          </a:xfrm>
          <a:prstGeom prst="line">
            <a:avLst/>
          </a:prstGeom>
          <a:ln w="13970">
            <a:solidFill>
              <a:srgbClr val="1A53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40080" y="4069080"/>
            <a:ext cx="868680" cy="45720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92B22"/>
                </a:solidFill>
              </a:defRPr>
            </a:pPr>
            <a:r>
              <a:t>Weather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78992" y="4526280"/>
            <a:ext cx="3904488" cy="548640"/>
          </a:xfrm>
          <a:prstGeom prst="line">
            <a:avLst/>
          </a:prstGeom>
          <a:ln w="12700">
            <a:solidFill>
              <a:srgbClr val="7878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691640" y="4069080"/>
            <a:ext cx="868680" cy="45720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92B22"/>
                </a:solidFill>
              </a:defRPr>
            </a:pPr>
            <a:r>
              <a:t>Traffic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130552" y="4526280"/>
            <a:ext cx="2852928" cy="548640"/>
          </a:xfrm>
          <a:prstGeom prst="line">
            <a:avLst/>
          </a:prstGeom>
          <a:ln w="12700">
            <a:solidFill>
              <a:srgbClr val="7878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2743200" y="4069080"/>
            <a:ext cx="868680" cy="45720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92B22"/>
                </a:solidFill>
              </a:defRPr>
            </a:pPr>
            <a:r>
              <a:t>Events +</a:t>
            </a:r>
            <a:br/>
            <a:r>
              <a:t>holidays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182112" y="4526280"/>
            <a:ext cx="1801368" cy="548640"/>
          </a:xfrm>
          <a:prstGeom prst="line">
            <a:avLst/>
          </a:prstGeom>
          <a:ln w="12700">
            <a:solidFill>
              <a:srgbClr val="7878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3794760" y="4069080"/>
            <a:ext cx="868680" cy="45720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92B22"/>
                </a:solidFill>
              </a:defRPr>
            </a:pPr>
            <a:r>
              <a:t>Airport</a:t>
            </a:r>
            <a:br/>
            <a:r>
              <a:t>signals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233672" y="4526280"/>
            <a:ext cx="749808" cy="548640"/>
          </a:xfrm>
          <a:prstGeom prst="line">
            <a:avLst/>
          </a:prstGeom>
          <a:ln w="12700">
            <a:solidFill>
              <a:srgbClr val="7878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4617720" y="4800600"/>
            <a:ext cx="1005840" cy="59436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192B22"/>
                </a:solidFill>
              </a:defRPr>
            </a:pPr>
            <a:r>
              <a:t>Future feature store /</a:t>
            </a:r>
            <a:br/>
            <a:r>
              <a:t>aggregate refresh</a:t>
            </a:r>
          </a:p>
        </p:txBody>
      </p:sp>
      <p:cxnSp>
        <p:nvCxnSpPr>
          <p:cNvPr id="48" name="Connector 47"/>
          <p:cNvCxnSpPr/>
          <p:nvPr/>
        </p:nvCxnSpPr>
        <p:spPr>
          <a:xfrm flipH="1" flipV="1">
            <a:off x="4206240" y="3200400"/>
            <a:ext cx="914400" cy="1600200"/>
          </a:xfrm>
          <a:prstGeom prst="line">
            <a:avLst/>
          </a:prstGeom>
          <a:ln w="12700">
            <a:solidFill>
              <a:srgbClr val="7878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11480" y="5162788"/>
            <a:ext cx="4297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5F5F"/>
                </a:solidFill>
              </a:defRPr>
            </a:pPr>
            <a:r>
              <a:rPr dirty="0"/>
              <a:t>These are not implemented yet. They show how the current artifact-based system can grow into a richer production pipeline.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3901581"/>
            <a:ext cx="5349240" cy="1651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92B22"/>
                </a:solidFill>
              </a:defRPr>
            </a:pPr>
            <a:r>
              <a:rPr dirty="0"/>
              <a:t>• React keeps the driver interface fast and interactive.</a:t>
            </a:r>
          </a:p>
          <a:p>
            <a:pPr>
              <a:spcAft>
                <a:spcPts val="400"/>
              </a:spcAft>
              <a:defRPr sz="1100">
                <a:solidFill>
                  <a:srgbClr val="192B22"/>
                </a:solidFill>
              </a:defRPr>
            </a:pPr>
            <a:r>
              <a:rPr dirty="0"/>
              <a:t>• </a:t>
            </a:r>
            <a:r>
              <a:rPr dirty="0" err="1"/>
              <a:t>FastAPI</a:t>
            </a:r>
            <a:r>
              <a:rPr dirty="0"/>
              <a:t> exposes clean endpoints for recommendations, zones, </a:t>
            </a:r>
            <a:r>
              <a:rPr dirty="0" err="1"/>
              <a:t>GeoJSON</a:t>
            </a:r>
            <a:r>
              <a:rPr dirty="0"/>
              <a:t>, and copilot requests.</a:t>
            </a:r>
          </a:p>
          <a:p>
            <a:pPr>
              <a:spcAft>
                <a:spcPts val="400"/>
              </a:spcAft>
              <a:defRPr sz="1100">
                <a:solidFill>
                  <a:srgbClr val="192B22"/>
                </a:solidFill>
              </a:defRPr>
            </a:pPr>
            <a:r>
              <a:rPr dirty="0"/>
              <a:t>• The recommendation service separates ranking logic from the UI.</a:t>
            </a:r>
          </a:p>
          <a:p>
            <a:pPr>
              <a:spcAft>
                <a:spcPts val="400"/>
              </a:spcAft>
              <a:defRPr sz="1100">
                <a:solidFill>
                  <a:srgbClr val="192B22"/>
                </a:solidFill>
              </a:defRPr>
            </a:pPr>
            <a:r>
              <a:rPr dirty="0"/>
              <a:t>• The </a:t>
            </a:r>
            <a:r>
              <a:rPr dirty="0" err="1"/>
              <a:t>LightGBM</a:t>
            </a:r>
            <a:r>
              <a:rPr dirty="0"/>
              <a:t> model is saved as a reusable artifact, so it can be loaded, versioned, or replaced.</a:t>
            </a:r>
          </a:p>
          <a:p>
            <a:pPr>
              <a:spcAft>
                <a:spcPts val="400"/>
              </a:spcAft>
              <a:defRPr sz="1100">
                <a:solidFill>
                  <a:srgbClr val="192B22"/>
                </a:solidFill>
              </a:defRPr>
            </a:pPr>
            <a:r>
              <a:rPr dirty="0"/>
              <a:t>• Future signals can be added to the feature pipeline without rebuilding the entire website.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64637"/>
          </a:solidFill>
          <a:ln w="12700">
            <a:solidFill>
              <a:srgbClr val="0646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4637"/>
                </a:solidFill>
              </a:rPr>
              <a:t>ARCHITECTURE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51D"/>
                </a:solidFill>
              </a:rPr>
              <a:t>Why these frameworks and tools?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9184" y="98755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36156"/>
                </a:solidFill>
              </a:rPr>
              <a:t>Each tool was selected to support fast iteration, model serving, and a demo-ready user interface.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50749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5727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4637"/>
                </a:solidFill>
              </a:rPr>
              <a:t>React + Vite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51D"/>
                </a:solidFill>
              </a:rPr>
              <a:t>Fast interactive UI, component-based screens, quick local builds, and simple deployment path for a web demo.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074920" cy="1143000"/>
          </a:xfrm>
          <a:prstGeom prst="roundRect">
            <a:avLst>
              <a:gd name="adj" fmla="val 9600"/>
            </a:avLst>
          </a:prstGeom>
          <a:solidFill>
            <a:srgbClr val="F3FAF5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46520" y="15727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4637"/>
                </a:solidFill>
              </a:rPr>
              <a:t>FastAPI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46520" y="18928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51D"/>
                </a:solidFill>
              </a:rPr>
              <a:t>Python-native backend, strong fit for ML serving, automatic API structure, and low-latency JSON endpoints.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94360" y="2990088"/>
            <a:ext cx="50749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1455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4637"/>
                </a:solidFill>
              </a:rPr>
              <a:t>LightGBM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" y="346557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51D"/>
                </a:solidFill>
              </a:rPr>
              <a:t>Efficient gradient boosting for millions of tabular rows with nonlinear zone/time interactions.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217920" y="2990088"/>
            <a:ext cx="5074920" cy="1143000"/>
          </a:xfrm>
          <a:prstGeom prst="roundRect">
            <a:avLst>
              <a:gd name="adj" fmla="val 9600"/>
            </a:avLst>
          </a:prstGeom>
          <a:solidFill>
            <a:srgbClr val="F3FAF5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46520" y="31455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4637"/>
                </a:solidFill>
              </a:rPr>
              <a:t>GeoJSON + zone lookup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46520" y="346557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51D"/>
                </a:solidFill>
              </a:rPr>
              <a:t>Lets the app show real TLC taxi-zone geography instead of only text recommendations.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94360" y="4562856"/>
            <a:ext cx="50749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47183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4637"/>
                </a:solidFill>
              </a:rPr>
              <a:t>Gemini API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22960" y="503834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51D"/>
                </a:solidFill>
              </a:rPr>
              <a:t>Adds natural-language and voice support without replacing the deterministic recommendation endpoint.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217920" y="4562856"/>
            <a:ext cx="5074920" cy="1143000"/>
          </a:xfrm>
          <a:prstGeom prst="roundRect">
            <a:avLst>
              <a:gd name="adj" fmla="val 9600"/>
            </a:avLst>
          </a:prstGeom>
          <a:solidFill>
            <a:srgbClr val="F3FAF5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46520" y="47183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64637"/>
                </a:solidFill>
              </a:rPr>
              <a:t>PostgreSQL/RDS future path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46520" y="503834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251D"/>
                </a:solidFill>
              </a:rPr>
              <a:t>Production version can store refreshed aggregates, model registry data, and monthly source lineage.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64637"/>
          </a:solidFill>
          <a:ln w="12700">
            <a:solidFill>
              <a:srgbClr val="0646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4637"/>
                </a:solidFill>
              </a:rPr>
              <a:t>DATA PIPELINE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51D"/>
                </a:solidFill>
              </a:rPr>
              <a:t>Data pipeline and feature construction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9184" y="98755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36156"/>
                </a:solidFill>
              </a:rPr>
              <a:t>Historical trips are transformed into zone/time and route/time features used for ranking.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1828800"/>
            <a:ext cx="12344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920240"/>
            <a:ext cx="1106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7251D"/>
                </a:solidFill>
              </a:rPr>
              <a:t>Raw TLC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7251D"/>
                </a:solidFill>
              </a:rPr>
              <a:t>HVFHV files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1645920" y="2240280"/>
            <a:ext cx="265176" cy="0"/>
          </a:xfrm>
          <a:prstGeom prst="line">
            <a:avLst/>
          </a:prstGeom>
          <a:noFill/>
          <a:ln w="21590">
            <a:solidFill>
              <a:srgbClr val="0646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965960" y="1828800"/>
            <a:ext cx="12344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29968" y="1920240"/>
            <a:ext cx="1106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7251D"/>
                </a:solidFill>
              </a:rPr>
              <a:t>Uber-only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7251D"/>
                </a:solidFill>
              </a:rPr>
              <a:t>cleaning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3200400" y="2240280"/>
            <a:ext cx="265176" cy="0"/>
          </a:xfrm>
          <a:prstGeom prst="line">
            <a:avLst/>
          </a:prstGeom>
          <a:noFill/>
          <a:ln w="21590">
            <a:solidFill>
              <a:srgbClr val="0646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20440" y="1828800"/>
            <a:ext cx="12344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84448" y="1920240"/>
            <a:ext cx="1106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7251D"/>
                </a:solidFill>
              </a:rPr>
              <a:t>Processed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7251D"/>
                </a:solidFill>
              </a:rPr>
              <a:t>trip facts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4754880" y="2240280"/>
            <a:ext cx="265176" cy="0"/>
          </a:xfrm>
          <a:prstGeom prst="line">
            <a:avLst/>
          </a:prstGeom>
          <a:noFill/>
          <a:ln w="21590">
            <a:solidFill>
              <a:srgbClr val="0646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74920" y="1828800"/>
            <a:ext cx="12344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38928" y="1920240"/>
            <a:ext cx="1106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7251D"/>
                </a:solidFill>
              </a:rPr>
              <a:t>Zone-hour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7251D"/>
                </a:solidFill>
              </a:rPr>
              <a:t>earnings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6309360" y="2240280"/>
            <a:ext cx="265176" cy="0"/>
          </a:xfrm>
          <a:prstGeom prst="line">
            <a:avLst/>
          </a:prstGeom>
          <a:noFill/>
          <a:ln w="21590">
            <a:solidFill>
              <a:srgbClr val="0646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629400" y="1828800"/>
            <a:ext cx="12344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93408" y="1920240"/>
            <a:ext cx="1106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7251D"/>
                </a:solidFill>
              </a:rPr>
              <a:t>Route-hour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7251D"/>
                </a:solidFill>
              </a:rPr>
              <a:t>travel time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863840" y="2240280"/>
            <a:ext cx="265176" cy="0"/>
          </a:xfrm>
          <a:prstGeom prst="line">
            <a:avLst/>
          </a:prstGeom>
          <a:noFill/>
          <a:ln w="21590">
            <a:solidFill>
              <a:srgbClr val="0646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183880" y="1828800"/>
            <a:ext cx="12344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47888" y="1920240"/>
            <a:ext cx="1106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7251D"/>
                </a:solidFill>
              </a:rPr>
              <a:t>Relocation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7251D"/>
                </a:solidFill>
              </a:rPr>
              <a:t>training table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9418320" y="2240280"/>
            <a:ext cx="402336" cy="0"/>
          </a:xfrm>
          <a:prstGeom prst="line">
            <a:avLst/>
          </a:prstGeom>
          <a:noFill/>
          <a:ln w="21590">
            <a:solidFill>
              <a:srgbClr val="0646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875520" y="1828800"/>
            <a:ext cx="1234440" cy="822960"/>
          </a:xfrm>
          <a:prstGeom prst="roundRect">
            <a:avLst>
              <a:gd name="adj" fmla="val 13333"/>
            </a:avLst>
          </a:prstGeom>
          <a:solidFill>
            <a:srgbClr val="DCECE2"/>
          </a:solidFill>
          <a:ln w="12700">
            <a:solidFill>
              <a:srgbClr val="0E8F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939528" y="1920240"/>
            <a:ext cx="1106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7251D"/>
                </a:solidFill>
              </a:rPr>
              <a:t>LightGBM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7251D"/>
                </a:solidFill>
              </a:rPr>
              <a:t>model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594360" y="3657600"/>
            <a:ext cx="53035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8680" y="3950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637"/>
                </a:solidFill>
              </a:rPr>
              <a:t>Core engineered tables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68680" y="4343400"/>
            <a:ext cx="46634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251D"/>
                </a:solidFill>
              </a:rPr>
              <a:t>• Zone/day/hour earning opportunity metrics
• Route/day/hour average travel-time metrics
• Candidate relocation rows with current zone, destination zone, hour, day, and travel time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3657600"/>
            <a:ext cx="50749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37960" y="3950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637"/>
                </a:solidFill>
              </a:rPr>
              <a:t>Why aggregate first?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537960" y="4343400"/>
            <a:ext cx="44348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251D"/>
                </a:solidFill>
              </a:rPr>
              <a:t>• Recommendations should not scan raw trip rows at runtime.
• Aggregates make model input and explanation fields fast to look up.
• The same design maps cleanly to future PostgreSQL/RDS tables.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64637"/>
          </a:solidFill>
          <a:ln w="12700">
            <a:solidFill>
              <a:srgbClr val="0646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4637"/>
                </a:solidFill>
              </a:rPr>
              <a:t>DATA EXPLORATION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51D"/>
                </a:solidFill>
              </a:rPr>
              <a:t>Exploratory data analysis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9184" y="98755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36156"/>
                </a:solidFill>
              </a:rPr>
              <a:t>EDA verified feature distributions and helped identify relationships before modeling.</a:t>
            </a:r>
            <a:endParaRPr lang="en-US" sz="1150" dirty="0"/>
          </a:p>
        </p:txBody>
      </p:sp>
      <p:pic>
        <p:nvPicPr>
          <p:cNvPr id="6" name="Image 0" descr="/mnt/data/eda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59728"/>
            <a:ext cx="5532120" cy="3675704"/>
          </a:xfrm>
          <a:prstGeom prst="rect">
            <a:avLst/>
          </a:prstGeom>
        </p:spPr>
      </p:pic>
      <p:pic>
        <p:nvPicPr>
          <p:cNvPr id="7" name="Image 1" descr="/mnt/data/eda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0074" y="1325880"/>
            <a:ext cx="4776373" cy="4343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36156"/>
                </a:solidFill>
              </a:rPr>
              <a:t>EDA confirmed the training table includes time patterns, travel-time variation, and strong relationships among earning, density, opportunity score, travel penalty, and net_gain.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64637"/>
          </a:solidFill>
          <a:ln w="12700">
            <a:solidFill>
              <a:srgbClr val="0646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4637"/>
                </a:solidFill>
              </a:rPr>
              <a:t>MODEL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51D"/>
                </a:solidFill>
              </a:rPr>
              <a:t>Model formulation: recommendation as regression ranking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9184" y="98755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36156"/>
                </a:solidFill>
              </a:rPr>
              <a:t>The app needs a ranked list of candidate zones, not just a yes/no relocation label.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3246120" cy="434340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7373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637"/>
                </a:solidFill>
              </a:rPr>
              <a:t>Input context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2148840"/>
            <a:ext cx="25603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51D"/>
                </a:solidFill>
              </a:rPr>
              <a:t>• Current zone
• Candidate destination zone
• Hour of day
• Day of week
• Average travel time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246120" cy="4343400"/>
          </a:xfrm>
          <a:prstGeom prst="roundRect">
            <a:avLst>
              <a:gd name="adj" fmla="val 3380"/>
            </a:avLst>
          </a:prstGeom>
          <a:solidFill>
            <a:srgbClr val="F3FAF5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09160" y="17373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637"/>
                </a:solidFill>
              </a:rPr>
              <a:t>Model output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09160" y="22402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64637"/>
                </a:solidFill>
              </a:rPr>
              <a:t>predicted_net_gain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709160" y="28803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17251D"/>
                </a:solidFill>
              </a:rPr>
              <a:t>A continuous score representing the historical relocation benefit after accounting for travel-time cost.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4709160" y="42519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4637"/>
                </a:solidFill>
              </a:rPr>
              <a:t>Higher score = stronger relocation candidate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83880" y="1417320"/>
            <a:ext cx="3246120" cy="434340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58200" y="17373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637"/>
                </a:solidFill>
              </a:rPr>
              <a:t>Why regression?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58200" y="2148840"/>
            <a:ext cx="256032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51D"/>
                </a:solidFill>
              </a:rPr>
              <a:t>• A binary classifier would only say relocate or not.
• A numeric score allows many zones to be compared and sorted.
• The backend can include stay-put as a candidate.
• The user receives top alternatives, not a single blind answer.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931920" y="3584448"/>
            <a:ext cx="457200" cy="0"/>
          </a:xfrm>
          <a:prstGeom prst="line">
            <a:avLst/>
          </a:prstGeom>
          <a:noFill/>
          <a:ln w="21590">
            <a:solidFill>
              <a:srgbClr val="0646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680960" y="3584448"/>
            <a:ext cx="457200" cy="0"/>
          </a:xfrm>
          <a:prstGeom prst="line">
            <a:avLst/>
          </a:prstGeom>
          <a:noFill/>
          <a:ln w="21590">
            <a:solidFill>
              <a:srgbClr val="0646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64637"/>
          </a:solidFill>
          <a:ln w="12700">
            <a:solidFill>
              <a:srgbClr val="0646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4637"/>
                </a:solidFill>
              </a:rPr>
              <a:t>MODEL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51D"/>
                </a:solidFill>
              </a:rPr>
              <a:t>Why LightGBM Regressor was selected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9184" y="98755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36156"/>
                </a:solidFill>
              </a:rPr>
              <a:t>LightGBM matches the project’s data shape: large, tabular, nonlinear, and ranking-oriented.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3611880" cy="49377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637"/>
                </a:solidFill>
              </a:rPr>
              <a:t>Compared with simpler models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297180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51D"/>
                </a:solidFill>
              </a:rPr>
              <a:t>• Linear regression is easier to explain but too limited for zone × hour × day interactions.
• Rule-based scoring is transparent but cannot learn complex patterns from millions of rows.
• Deep learning is more complex than necessary for this structured tabular data.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234440"/>
            <a:ext cx="3611880" cy="4937760"/>
          </a:xfrm>
          <a:prstGeom prst="roundRect">
            <a:avLst>
              <a:gd name="adj" fmla="val 3038"/>
            </a:avLst>
          </a:prstGeom>
          <a:solidFill>
            <a:srgbClr val="F3FAF5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09160" y="1554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637"/>
                </a:solidFill>
              </a:rPr>
              <a:t>Why gradient-boosted trees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09160" y="1965960"/>
            <a:ext cx="297180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51D"/>
                </a:solidFill>
              </a:rPr>
              <a:t>• Decision trees split data into regions such as zone/time/travel-time combinations.
• Boosting adds trees sequentially, where each tree corrects errors left by earlier trees.
• This captures nonlinear patterns without manually coding every interaction.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321040" y="1234440"/>
            <a:ext cx="3337560" cy="49377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95360" y="1554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637"/>
                </a:solidFill>
              </a:rPr>
              <a:t>Why LightGBM specifically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595360" y="1965960"/>
            <a:ext cx="269748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51D"/>
                </a:solidFill>
              </a:rPr>
              <a:t>• Fast training on millions of rows
• Efficient prediction for API serving
• Handles categorical-like numeric zone IDs through learned splits
• Provides feature importance for explanation and debugging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64637"/>
          </a:solidFill>
          <a:ln w="12700">
            <a:solidFill>
              <a:srgbClr val="0646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4637"/>
                </a:solidFill>
              </a:rPr>
              <a:t>MODEL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51D"/>
                </a:solidFill>
              </a:rPr>
              <a:t>How a tree model outputs a continuous value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9184" y="98755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36156"/>
                </a:solidFill>
              </a:rPr>
              <a:t>A regression tree does not vote for a class; each leaf stores a numeric prediction.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14400" y="1325880"/>
            <a:ext cx="21031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E8F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78408" y="1417320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251D"/>
                </a:solidFill>
              </a:rPr>
              <a:t>Is current zone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7251D"/>
                </a:solidFill>
              </a:rPr>
              <a:t>near high-opportunity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7251D"/>
                </a:solidFill>
              </a:rPr>
              <a:t>areas?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15544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2834640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51D"/>
                </a:solidFill>
              </a:rPr>
              <a:t>Hour is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7251D"/>
                </a:solidFill>
              </a:rPr>
              <a:t>slow period?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2743200"/>
            <a:ext cx="16459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07208" y="2834640"/>
            <a:ext cx="1517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51D"/>
                </a:solidFill>
              </a:rPr>
              <a:t>Travel time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7251D"/>
                </a:solidFill>
              </a:rPr>
              <a:t>small enough?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4251960"/>
            <a:ext cx="1280160" cy="594360"/>
          </a:xfrm>
          <a:prstGeom prst="roundRect">
            <a:avLst>
              <a:gd name="adj" fmla="val 18462"/>
            </a:avLst>
          </a:prstGeom>
          <a:solidFill>
            <a:srgbClr val="DCECE2"/>
          </a:solidFill>
          <a:ln w="12700">
            <a:solidFill>
              <a:srgbClr val="0E8F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2608" y="4343400"/>
            <a:ext cx="1152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51D"/>
                </a:solidFill>
              </a:rPr>
              <a:t>Leaf value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251D"/>
                </a:solidFill>
              </a:rPr>
              <a:t>+240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37360" y="4251960"/>
            <a:ext cx="128016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D94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801368" y="4343400"/>
            <a:ext cx="1152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51D"/>
                </a:solidFill>
              </a:rPr>
              <a:t>Leaf value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251D"/>
                </a:solidFill>
              </a:rPr>
              <a:t>-120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4251960"/>
            <a:ext cx="1280160" cy="594360"/>
          </a:xfrm>
          <a:prstGeom prst="roundRect">
            <a:avLst>
              <a:gd name="adj" fmla="val 18462"/>
            </a:avLst>
          </a:prstGeom>
          <a:solidFill>
            <a:srgbClr val="DCECE2"/>
          </a:solidFill>
          <a:ln w="12700">
            <a:solidFill>
              <a:srgbClr val="0E8F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10128" y="4343400"/>
            <a:ext cx="115214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51D"/>
                </a:solidFill>
              </a:rPr>
              <a:t>Leaf value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251D"/>
                </a:solidFill>
              </a:rPr>
              <a:t>+880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463040" y="2057400"/>
            <a:ext cx="0" cy="685800"/>
          </a:xfrm>
          <a:prstGeom prst="line">
            <a:avLst/>
          </a:prstGeom>
          <a:noFill/>
          <a:ln w="21590">
            <a:solidFill>
              <a:srgbClr val="0646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14600" y="2057400"/>
            <a:ext cx="1051560" cy="685800"/>
          </a:xfrm>
          <a:prstGeom prst="line">
            <a:avLst/>
          </a:prstGeom>
          <a:noFill/>
          <a:ln w="21590">
            <a:solidFill>
              <a:srgbClr val="0646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5840" y="3383280"/>
            <a:ext cx="0" cy="868680"/>
          </a:xfrm>
          <a:prstGeom prst="line">
            <a:avLst/>
          </a:prstGeom>
          <a:noFill/>
          <a:ln w="21590">
            <a:solidFill>
              <a:srgbClr val="0646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554480" y="3383280"/>
            <a:ext cx="822960" cy="868680"/>
          </a:xfrm>
          <a:prstGeom prst="line">
            <a:avLst/>
          </a:prstGeom>
          <a:noFill/>
          <a:ln w="21590">
            <a:solidFill>
              <a:srgbClr val="0646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566160" y="3383280"/>
            <a:ext cx="320040" cy="868680"/>
          </a:xfrm>
          <a:prstGeom prst="line">
            <a:avLst/>
          </a:prstGeom>
          <a:noFill/>
          <a:ln w="21590">
            <a:solidFill>
              <a:srgbClr val="06463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212080" y="1325880"/>
            <a:ext cx="62179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532120" y="1645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637"/>
                </a:solidFill>
              </a:rPr>
              <a:t>Gradient boosting prediction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532120" y="20574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51D"/>
                </a:solidFill>
              </a:rPr>
              <a:t>Each tree outputs a number. LightGBM combines many trees by adding their outputs together.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32120" y="27889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4637"/>
                </a:solidFill>
              </a:rPr>
              <a:t>ŷ = initial average + tree₁(x) + tree₂(x) + ... + treeₙ(x)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532120" y="352044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51D"/>
                </a:solidFill>
              </a:rPr>
              <a:t>Because the leaf values are numeric, the final prediction is continuous. That is how a tree-based model can predict a dollar-like net_gain score rather than only a category.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532120" y="49834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64637"/>
                </a:solidFill>
              </a:rPr>
              <a:t>In this app, the continuous score is used to rank zones.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64637"/>
          </a:solidFill>
          <a:ln w="12700">
            <a:solidFill>
              <a:srgbClr val="0646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4637"/>
                </a:solidFill>
              </a:rPr>
              <a:t>MODEL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51D"/>
                </a:solidFill>
              </a:rPr>
              <a:t>How LightGBM handles nonlinear relationships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9184" y="98755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36156"/>
                </a:solidFill>
              </a:rPr>
              <a:t>The value of a relocation zone can depend on combinations of current zone, candidate zone, day, hour, and travel time.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530352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645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637"/>
                </a:solidFill>
              </a:rPr>
              <a:t>Nonlinear example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51D"/>
                </a:solidFill>
              </a:rPr>
              <a:t>A 12-minute relocation may be worth it at 3 PM from one zone, but not worth it at 11 PM from another zone.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452628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7251D"/>
                </a:solidFill>
              </a:rPr>
              <a:t>• Trees split the feature space into many rule-like regions.
• Boosting combines many trees, allowing curved and interaction-heavy decision surfaces.
• The model can learn that the same travel time has different meaning depending on origin, destination, and hour.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6355080" y="1325880"/>
            <a:ext cx="5212080" cy="4434840"/>
          </a:xfrm>
          <a:prstGeom prst="roundRect">
            <a:avLst>
              <a:gd name="adj" fmla="val 2474"/>
            </a:avLst>
          </a:prstGeom>
          <a:solidFill>
            <a:srgbClr val="F3FAF5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29400" y="16459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637"/>
                </a:solidFill>
              </a:rPr>
              <a:t>Why this matters for rideshare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629400" y="2057400"/>
            <a:ext cx="4480560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7251D"/>
                </a:solidFill>
              </a:rPr>
              <a:t>• Demand is spatial: some zones are stronger than others.
• Demand is temporal: patterns change by hour and day.
• Travel time is a cost: longer repositioning reduces remaining opportunity.
• The recommendation must combine these factors rather than treating them independently.</a:t>
            </a:r>
            <a:endParaRPr lang="en-US" sz="12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64637"/>
          </a:solidFill>
          <a:ln w="12700">
            <a:solidFill>
              <a:srgbClr val="0646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4637"/>
                </a:solidFill>
              </a:rPr>
              <a:t>MODEL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51D"/>
                </a:solidFill>
              </a:rPr>
              <a:t>Target variable and loss function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9184" y="98755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36156"/>
                </a:solidFill>
              </a:rPr>
              <a:t>The model learns to predict net_gain and is penalized more for large numeric mistakes.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52578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6459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637"/>
                </a:solidFill>
              </a:rPr>
              <a:t>Target construction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4637"/>
                </a:solidFill>
              </a:rPr>
              <a:t>net_gain = destination earning exposure − current-zone earning exposure − travel penalty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154680"/>
            <a:ext cx="45262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7251D"/>
                </a:solidFill>
              </a:rPr>
              <a:t>• Positive net_gain means the candidate zone historically looked stronger after relocation cost.
• Negative net_gain means travel time or weaker destination opportunity made the move less attractive.
• This target supports ranking because each candidate receives a numeric score.</a:t>
            </a:r>
            <a:endParaRPr lang="en-US" sz="1270" dirty="0"/>
          </a:p>
        </p:txBody>
      </p:sp>
      <p:sp>
        <p:nvSpPr>
          <p:cNvPr id="10" name="Shape 8"/>
          <p:cNvSpPr/>
          <p:nvPr/>
        </p:nvSpPr>
        <p:spPr>
          <a:xfrm>
            <a:off x="6309360" y="1325880"/>
            <a:ext cx="52578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1645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637"/>
                </a:solidFill>
              </a:rPr>
              <a:t>Squared-error style regression loss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0" y="214884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4637"/>
                </a:solidFill>
              </a:rPr>
              <a:t>Loss = average((actual net_gain − predicted net_gain)²)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3063240"/>
            <a:ext cx="452628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7251D"/>
                </a:solidFill>
              </a:rPr>
              <a:t>• Small errors receive small penalties.
• Large errors receive much larger penalties.
• This is useful because sending a driver toward a very weak zone is more harmful than a small ordering mistake.
• RMSE is aligned with this squared-error training objective.</a:t>
            </a:r>
            <a:endParaRPr lang="en-US" sz="127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64637"/>
          </a:solidFill>
          <a:ln w="12700">
            <a:solidFill>
              <a:srgbClr val="0646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4637"/>
                </a:solidFill>
              </a:rPr>
              <a:t>MODEL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51D"/>
                </a:solidFill>
              </a:rPr>
              <a:t>Hyperparameter tuning with Optuna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9184" y="98755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36156"/>
                </a:solidFill>
              </a:rPr>
              <a:t>Optuna searched LightGBM settings and selected the configuration with the lowest validation RMSE.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521208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554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637"/>
                </a:solidFill>
              </a:rPr>
              <a:t>What was tuned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51D"/>
                </a:solidFill>
              </a:rPr>
              <a:t>n_estimators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11880" y="19659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64637"/>
                </a:solidFill>
              </a:rPr>
              <a:t>700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235915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51D"/>
                </a:solidFill>
              </a:rPr>
              <a:t>learning_rate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11880" y="235915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64637"/>
                </a:solidFill>
              </a:rPr>
              <a:t>0.0383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275234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51D"/>
                </a:solidFill>
              </a:rPr>
              <a:t>num_leaves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11880" y="275234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64637"/>
                </a:solidFill>
              </a:rPr>
              <a:t>70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" y="314553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51D"/>
                </a:solidFill>
              </a:rPr>
              <a:t>max_depth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11880" y="314553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64637"/>
                </a:solidFill>
              </a:rPr>
              <a:t>11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353872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51D"/>
                </a:solidFill>
              </a:rPr>
              <a:t>min_child_samples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11880" y="353872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64637"/>
                </a:solidFill>
              </a:rPr>
              <a:t>40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14400" y="393192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51D"/>
                </a:solidFill>
              </a:rPr>
              <a:t>subsample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11880" y="39319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64637"/>
                </a:solidFill>
              </a:rPr>
              <a:t>0.8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4400" y="432511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51D"/>
                </a:solidFill>
              </a:rPr>
              <a:t>colsample_bytree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11880" y="43251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64637"/>
                </a:solidFill>
              </a:rPr>
              <a:t>0.9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14400" y="471830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51D"/>
                </a:solidFill>
              </a:rPr>
              <a:t>reg_alpha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11880" y="471830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64637"/>
                </a:solidFill>
              </a:rPr>
              <a:t>0.0519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4400" y="511149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7251D"/>
                </a:solidFill>
              </a:rPr>
              <a:t>reg_lambda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11880" y="511149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64637"/>
                </a:solidFill>
              </a:rPr>
              <a:t>0.00543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72200" y="1234440"/>
            <a:ext cx="5394960" cy="4937760"/>
          </a:xfrm>
          <a:prstGeom prst="roundRect">
            <a:avLst>
              <a:gd name="adj" fmla="val 2222"/>
            </a:avLst>
          </a:prstGeom>
          <a:solidFill>
            <a:srgbClr val="F3FAF5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46520" y="1554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637"/>
                </a:solidFill>
              </a:rPr>
              <a:t>Why tuning matters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46520" y="1965960"/>
            <a:ext cx="470916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51D"/>
                </a:solidFill>
              </a:rPr>
              <a:t>• Too few trees can underfit and miss demand patterns.
• Too many or too-deep trees can overfit historical noise.
• Learning rate controls how aggressively each tree updates the model.
• Sampling and regularization reduce overfitting.
• RMSE was minimized because large score errors are risky for recommendations.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46520" y="49834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4637"/>
                </a:solidFill>
              </a:rPr>
              <a:t>Tuning objective: minimize RMSE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64637"/>
          </a:solidFill>
          <a:ln w="12700">
            <a:solidFill>
              <a:srgbClr val="0646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4637"/>
                </a:solidFill>
              </a:rPr>
              <a:t>MODEL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51D"/>
                </a:solidFill>
              </a:rPr>
              <a:t>Feature importance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9184" y="98755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36156"/>
                </a:solidFill>
              </a:rPr>
              <a:t>The model relied most on current zone, hour, candidate zone, day, and travel time.</a:t>
            </a:r>
            <a:endParaRPr lang="en-US" sz="1150" dirty="0"/>
          </a:p>
        </p:txBody>
      </p:sp>
      <p:pic>
        <p:nvPicPr>
          <p:cNvPr id="6" name="Image 0" descr="/mnt/data/feature_importanc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41731"/>
            <a:ext cx="6400800" cy="381461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52360" y="1325880"/>
            <a:ext cx="4069080" cy="484632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26680" y="1600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637"/>
                </a:solidFill>
              </a:rPr>
              <a:t>Interpretation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26680" y="1965960"/>
            <a:ext cx="342900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7251D"/>
                </a:solidFill>
              </a:rPr>
              <a:t>• PULocationID is strongest because the current zone determines the starting opportunity and candidate set.
• hour_bucket is important because rideshare opportunity varies heavily by time of day.
• DOLocationID matters because the destination zone defines the relocation opportunity.
• average_PU_to_DO_time matters because longer travel reduces the remaining usable hour.</a:t>
            </a:r>
            <a:endParaRPr lang="en-US" sz="126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64637"/>
          </a:solidFill>
          <a:ln w="12700">
            <a:solidFill>
              <a:srgbClr val="0646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4637"/>
                </a:solidFill>
              </a:rPr>
              <a:t>EVALUATION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51D"/>
                </a:solidFill>
              </a:rPr>
              <a:t>Model performance: what the numbers mean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9184" y="98755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36156"/>
                </a:solidFill>
              </a:rPr>
              <a:t>The metrics evaluate both numeric prediction error and recommendation ranking quality.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10972800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3990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4637"/>
                </a:solidFill>
              </a:rPr>
              <a:t>MAE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148840" y="13990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51D"/>
                </a:solidFill>
              </a:rPr>
              <a:t>317.4087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069080" y="134416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51D"/>
                </a:solidFill>
              </a:rPr>
              <a:t>Average absolute size of prediction error in net_gain units. Lower is better.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2377440"/>
            <a:ext cx="10972800" cy="877824"/>
          </a:xfrm>
          <a:prstGeom prst="roundRect">
            <a:avLst>
              <a:gd name="adj" fmla="val 12500"/>
            </a:avLst>
          </a:prstGeom>
          <a:solidFill>
            <a:srgbClr val="F3FAF5"/>
          </a:solidFill>
          <a:ln w="12700">
            <a:solidFill>
              <a:srgbClr val="DA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5420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4637"/>
                </a:solidFill>
              </a:rPr>
              <a:t>RMSE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148840" y="25420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51D"/>
                </a:solidFill>
              </a:rPr>
              <a:t>460.4430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248716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51D"/>
                </a:solidFill>
              </a:rPr>
              <a:t>Penalizes large mistakes more than MAE. Useful because very wrong relocation scores are costly.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3520440"/>
            <a:ext cx="10972800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36850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4637"/>
                </a:solidFill>
              </a:rPr>
              <a:t>R²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148840" y="36850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51D"/>
                </a:solidFill>
              </a:rPr>
              <a:t>0.8854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69080" y="363016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51D"/>
                </a:solidFill>
              </a:rPr>
              <a:t>Share of target variation explained by the model. Indicates strong fit to historical net_gain patterns.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4360" y="4663440"/>
            <a:ext cx="10972800" cy="877824"/>
          </a:xfrm>
          <a:prstGeom prst="roundRect">
            <a:avLst>
              <a:gd name="adj" fmla="val 12500"/>
            </a:avLst>
          </a:prstGeom>
          <a:solidFill>
            <a:srgbClr val="F3FAF5"/>
          </a:solidFill>
          <a:ln w="12700">
            <a:solidFill>
              <a:srgbClr val="DA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48280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4637"/>
                </a:solidFill>
              </a:rPr>
              <a:t>NDCG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148840" y="48280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51D"/>
                </a:solidFill>
              </a:rPr>
              <a:t>0.9749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069080" y="477316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51D"/>
                </a:solidFill>
              </a:rPr>
              <a:t>Ranking metric showing whether the strongest relocation candidates appear near the top. Crucial for recommender behavior.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36156"/>
                </a:solidFill>
              </a:rPr>
              <a:t>Why both error and ranking metrics? The app shows a ranked list of zones. Numeric error matters, but ordering better zones above weaker zones is directly tied to user experience.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64637"/>
          </a:solidFill>
          <a:ln w="12700">
            <a:solidFill>
              <a:srgbClr val="0646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4637"/>
                </a:solidFill>
              </a:rPr>
              <a:t>EVALUATION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51D"/>
                </a:solidFill>
              </a:rPr>
              <a:t>Model evaluation dashboard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9184" y="98755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36156"/>
                </a:solidFill>
              </a:rPr>
              <a:t>The notebook evaluated prediction fit and historical recommendation impact across time patterns.</a:t>
            </a:r>
            <a:endParaRPr lang="en-US" sz="1150" dirty="0"/>
          </a:p>
        </p:txBody>
      </p:sp>
      <p:pic>
        <p:nvPicPr>
          <p:cNvPr id="6" name="Image 0" descr="/mnt/data/model_evaluation_dashboard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17192"/>
            <a:ext cx="7315200" cy="486369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83880" y="1234440"/>
            <a:ext cx="3429000" cy="50749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458200" y="1508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637"/>
                </a:solidFill>
              </a:rPr>
              <a:t>Dashboard views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458200" y="1874520"/>
            <a:ext cx="278892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7251D"/>
                </a:solidFill>
              </a:rPr>
              <a:t>• Predicted vs. actual net_gain checks whether predictions follow actual values.
• Earnings lift by hour checks when recommendations show more benefit.
• Average staying vs. following recommendation gives a high-level impact comparison.
• Day-of-week distribution checks whether lift patterns are consistent across days.</a:t>
            </a:r>
            <a:endParaRPr lang="en-US" sz="123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64637"/>
          </a:solidFill>
          <a:ln w="12700">
            <a:solidFill>
              <a:srgbClr val="0646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4637"/>
                </a:solidFill>
              </a:rPr>
              <a:t>EVALUATION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51D"/>
                </a:solidFill>
              </a:rPr>
              <a:t>Historical recommendation impact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9184" y="98755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36156"/>
                </a:solidFill>
              </a:rPr>
              <a:t>The notebook compared staying put against following the model recommendation where a stay-put baseline existed.</a:t>
            </a:r>
            <a:endParaRPr lang="en-US" sz="1150" dirty="0"/>
          </a:p>
        </p:txBody>
      </p:sp>
      <p:pic>
        <p:nvPicPr>
          <p:cNvPr id="6" name="Image 0" descr="/mnt/data/earnings_lift_distribution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53434"/>
            <a:ext cx="6217920" cy="37168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86600" y="1325880"/>
            <a:ext cx="4480560" cy="480060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60920" y="16002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637"/>
                </a:solidFill>
              </a:rPr>
              <a:t>Simulation results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60920" y="2011680"/>
            <a:ext cx="16459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452360" y="21305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64637"/>
                </a:solidFill>
              </a:rPr>
              <a:t>42,367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452360" y="24414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36156"/>
                </a:solidFill>
              </a:rPr>
              <a:t>Simulated contexts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9326880" y="2011680"/>
            <a:ext cx="17373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418320" y="21305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64637"/>
                </a:solidFill>
              </a:rPr>
              <a:t>$747.67/hr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9418320" y="24414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36156"/>
                </a:solidFill>
              </a:rPr>
              <a:t>Stay-put exposure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7360920" y="2971800"/>
            <a:ext cx="164592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452360" y="30906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64637"/>
                </a:solidFill>
              </a:rPr>
              <a:t>$1,389.63/hr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7452360" y="34015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36156"/>
                </a:solidFill>
              </a:rPr>
              <a:t>Recommendation exposure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9326880" y="2971800"/>
            <a:ext cx="17373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418320" y="30906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64637"/>
                </a:solidFill>
              </a:rPr>
              <a:t>+$641.96/hr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9418320" y="34015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36156"/>
                </a:solidFill>
              </a:rPr>
              <a:t>Mean lift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360920" y="42519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637"/>
                </a:solidFill>
              </a:rPr>
              <a:t>Interpretation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360920" y="45720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7251D"/>
                </a:solidFill>
              </a:rPr>
              <a:t>The model often found zones with stronger historical market earning exposure than staying put. This is not guaranteed individual driver pay; it is a historical market-opportunity signal.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64637"/>
          </a:solidFill>
          <a:ln w="12700">
            <a:solidFill>
              <a:srgbClr val="0646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4637"/>
                </a:solidFill>
              </a:rPr>
              <a:t>APP ANALYSIS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51D"/>
                </a:solidFill>
              </a:rPr>
              <a:t>Technical testing and user feedback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9184" y="98755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36156"/>
                </a:solidFill>
              </a:rPr>
              <a:t>Testing confirmed the app flow worked locally and user feedback changed the final product scope.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5257800" cy="50292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637"/>
                </a:solidFill>
              </a:rPr>
              <a:t>Manual technical testing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457200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7251D"/>
                </a:solidFill>
              </a:rPr>
              <a:t>• Backend health endpoint returned status OK.
• Zone dropdown populated with TLC zone names and IDs.
• Recommendation endpoint returned ranked result in 148.6 ms locally.
• GeoJSON map rendered 263 taxi-zone features.
• Copilot worked when Gemini API key/quota was valid.
• Errors were shown in the UI instead of failing silently.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309360" y="1234440"/>
            <a:ext cx="5257800" cy="5029200"/>
          </a:xfrm>
          <a:prstGeom prst="roundRect">
            <a:avLst>
              <a:gd name="adj" fmla="val 2182"/>
            </a:avLst>
          </a:prstGeom>
          <a:solidFill>
            <a:srgbClr val="F3FAF5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0" y="1508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637"/>
                </a:solidFill>
              </a:rPr>
              <a:t>User-driven iterations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83680" y="1874520"/>
            <a:ext cx="457200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7251D"/>
                </a:solidFill>
              </a:rPr>
              <a:t>• Removed offered-trip prediction because a part-time driver was concerned about rejecting rides affecting ratings/perks.
• Kept explanation text because a full-time driver found the recommendation aligned with local driving intuition.
• Added chat/voice copilot because users wanted a lower-reading interaction style.
• Kept manual zone selection because browser geolocation can be imperfect.</a:t>
            </a:r>
            <a:endParaRPr lang="en-US" sz="123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64637"/>
          </a:solidFill>
          <a:ln w="12700">
            <a:solidFill>
              <a:srgbClr val="0646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103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64637"/>
                </a:solidFill>
              </a:rPr>
              <a:t>FUTURE WORK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51D"/>
                </a:solidFill>
              </a:rPr>
              <a:t>Limitations and next steps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9184" y="987552"/>
            <a:ext cx="11247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36156"/>
                </a:solidFill>
              </a:rPr>
              <a:t>The current app is a strong prototype; production improvements would add live context and repeatable data refresh.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52578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6459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4E45"/>
                </a:solidFill>
              </a:rPr>
              <a:t>Current limitations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457200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51D"/>
                </a:solidFill>
              </a:rPr>
              <a:t>• Historical patterns do not guarantee future individual earnings.
• No live weather, events, traffic, holidays, or driver supply signals yet.
• Some zone/time combinations may have limited data.
• Device location depends on browser permission and accuracy.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325880"/>
            <a:ext cx="5257800" cy="4526280"/>
          </a:xfrm>
          <a:prstGeom prst="roundRect">
            <a:avLst>
              <a:gd name="adj" fmla="val 2424"/>
            </a:avLst>
          </a:prstGeom>
          <a:solidFill>
            <a:srgbClr val="F3FAF5"/>
          </a:solidFill>
          <a:ln w="12700">
            <a:solidFill>
              <a:srgbClr val="DAD8CF"/>
            </a:solidFill>
            <a:prstDash val="solid"/>
          </a:ln>
          <a:effectLst>
            <a:outerShdw blurRad="15240" dist="50800" dir="2700000" algn="bl" rotWithShape="0">
              <a:srgbClr val="BEB6A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0" y="16459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4637"/>
                </a:solidFill>
              </a:rPr>
              <a:t>Next production improvements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83680" y="2057400"/>
            <a:ext cx="457200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51D"/>
                </a:solidFill>
              </a:rPr>
              <a:t>• Monthly data refresh and rolling averages
• PostgreSQL/RDS tables for aggregates and model registry
• Weather, event, airport, and holiday features
• Street/landmark map layer for better driver recognition
• Live driver testing to measure wait-time reduction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64637"/>
          </a:solidFill>
          <a:ln w="12700">
            <a:solidFill>
              <a:srgbClr val="0646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7160"/>
            <a:ext cx="12191695" cy="6720840"/>
          </a:xfrm>
          <a:prstGeom prst="rect">
            <a:avLst/>
          </a:prstGeom>
          <a:solidFill>
            <a:srgbClr val="064637"/>
          </a:solidFill>
          <a:ln w="12700">
            <a:solidFill>
              <a:srgbClr val="0646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005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Driver Earnings Navigator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13232" y="17373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CECE2"/>
                </a:solidFill>
              </a:rPr>
              <a:t>Smart relocation. Better reasoning. Clearer driver decisions.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106984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A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3017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4637"/>
                </a:solidFill>
              </a:rPr>
              <a:t>Project takeaway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3493008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251D"/>
                </a:solidFill>
              </a:rPr>
              <a:t>This capstone combines machine learning, geospatial visualization, backend model serving, frontend UX, and conversational AI into a practical decision-support app for NYC Uber drivers.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443484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36156"/>
                </a:solidFill>
              </a:rPr>
              <a:t>Historical market exposure, not guaranteed individual earnings.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3136</Words>
  <Application>Microsoft Office PowerPoint</Application>
  <PresentationFormat>Widescreen</PresentationFormat>
  <Paragraphs>318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Driver Earnings Navigator</dc:title>
  <dc:subject>Driver Earnings Navigator Capstone Presentation</dc:subject>
  <dc:creator>OpenAI</dc:creator>
  <cp:lastModifiedBy>Jalal, Bodrul Islam</cp:lastModifiedBy>
  <cp:revision>2</cp:revision>
  <dcterms:created xsi:type="dcterms:W3CDTF">2026-05-06T19:18:13Z</dcterms:created>
  <dcterms:modified xsi:type="dcterms:W3CDTF">2026-05-06T19:48:05Z</dcterms:modified>
</cp:coreProperties>
</file>